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86" r:id="rId1"/>
  </p:sldMasterIdLst>
  <p:notesMasterIdLst>
    <p:notesMasterId r:id="rId12"/>
  </p:notesMasterIdLst>
  <p:sldIdLst>
    <p:sldId id="256" r:id="rId2"/>
    <p:sldId id="260" r:id="rId3"/>
    <p:sldId id="257" r:id="rId4"/>
    <p:sldId id="259" r:id="rId5"/>
    <p:sldId id="261" r:id="rId6"/>
    <p:sldId id="262" r:id="rId7"/>
    <p:sldId id="263" r:id="rId8"/>
    <p:sldId id="264" r:id="rId9"/>
    <p:sldId id="265" r:id="rId10"/>
    <p:sldId id="266"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461"/>
    <p:restoredTop sz="94640"/>
  </p:normalViewPr>
  <p:slideViewPr>
    <p:cSldViewPr snapToGrid="0">
      <p:cViewPr varScale="1">
        <p:scale>
          <a:sx n="68" d="100"/>
          <a:sy n="68" d="100"/>
        </p:scale>
        <p:origin x="216" y="10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756B47F-157B-3E4F-BF0A-DCAB52D5DF6D}" type="datetimeFigureOut">
              <a:rPr lang="en-US" smtClean="0"/>
              <a:t>4/22/26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BC5F2D-2091-FD41-9693-6460AFB41273}" type="slidenum">
              <a:rPr lang="en-US" smtClean="0"/>
              <a:t>‹#›</a:t>
            </a:fld>
            <a:endParaRPr lang="en-US"/>
          </a:p>
        </p:txBody>
      </p:sp>
    </p:spTree>
    <p:extLst>
      <p:ext uri="{BB962C8B-B14F-4D97-AF65-F5344CB8AC3E}">
        <p14:creationId xmlns:p14="http://schemas.microsoft.com/office/powerpoint/2010/main" val="25964804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Interfaces are completely abstract classes that group together abstract methods with common </a:t>
            </a:r>
            <a:r>
              <a:rPr lang="en-US" dirty="0" err="1"/>
              <a:t>behaviours</a:t>
            </a:r>
            <a:r>
              <a:rPr lang="en-US" dirty="0"/>
              <a:t>. They </a:t>
            </a:r>
            <a:r>
              <a:rPr lang="en-US" dirty="0" err="1"/>
              <a:t>cannont</a:t>
            </a:r>
            <a:r>
              <a:rPr lang="en-US" dirty="0"/>
              <a:t> contain constructors because they are not capable of being instantiated, only implemented with the implements keyword. </a:t>
            </a:r>
          </a:p>
          <a:p>
            <a:r>
              <a:rPr lang="en-US" dirty="0"/>
              <a:t>The syntax for declaring an interface uses </a:t>
            </a:r>
            <a:r>
              <a:rPr lang="en-US" dirty="0" err="1"/>
              <a:t>modifer</a:t>
            </a:r>
            <a:r>
              <a:rPr lang="en-US" dirty="0"/>
              <a:t> interface interface name followed by constants and methods</a:t>
            </a:r>
          </a:p>
        </p:txBody>
      </p:sp>
      <p:sp>
        <p:nvSpPr>
          <p:cNvPr id="4" name="Slide Number Placeholder 3"/>
          <p:cNvSpPr>
            <a:spLocks noGrp="1"/>
          </p:cNvSpPr>
          <p:nvPr>
            <p:ph type="sldNum" sz="quarter" idx="5"/>
          </p:nvPr>
        </p:nvSpPr>
        <p:spPr/>
        <p:txBody>
          <a:bodyPr/>
          <a:lstStyle/>
          <a:p>
            <a:fld id="{FDBC5F2D-2091-FD41-9693-6460AFB41273}" type="slidenum">
              <a:rPr lang="en-US" smtClean="0"/>
              <a:t>2</a:t>
            </a:fld>
            <a:endParaRPr lang="en-US"/>
          </a:p>
        </p:txBody>
      </p:sp>
    </p:spTree>
    <p:extLst>
      <p:ext uri="{BB962C8B-B14F-4D97-AF65-F5344CB8AC3E}">
        <p14:creationId xmlns:p14="http://schemas.microsoft.com/office/powerpoint/2010/main" val="218893118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abstract method is a bodiless method that's only used in abstract classes as well as interfaces. They only get a body once overridden in the subclass that implements them. Any class that has an abstract method must be declared abstract.</a:t>
            </a:r>
          </a:p>
        </p:txBody>
      </p:sp>
      <p:sp>
        <p:nvSpPr>
          <p:cNvPr id="4" name="Slide Number Placeholder 3"/>
          <p:cNvSpPr>
            <a:spLocks noGrp="1"/>
          </p:cNvSpPr>
          <p:nvPr>
            <p:ph type="sldNum" sz="quarter" idx="5"/>
          </p:nvPr>
        </p:nvSpPr>
        <p:spPr/>
        <p:txBody>
          <a:bodyPr/>
          <a:lstStyle/>
          <a:p>
            <a:fld id="{FDBC5F2D-2091-FD41-9693-6460AFB41273}" type="slidenum">
              <a:rPr lang="en-US" smtClean="0"/>
              <a:t>3</a:t>
            </a:fld>
            <a:endParaRPr lang="en-US"/>
          </a:p>
        </p:txBody>
      </p:sp>
    </p:spTree>
    <p:extLst>
      <p:ext uri="{BB962C8B-B14F-4D97-AF65-F5344CB8AC3E}">
        <p14:creationId xmlns:p14="http://schemas.microsoft.com/office/powerpoint/2010/main" val="19295307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BC5F2D-2091-FD41-9693-6460AFB41273}" type="slidenum">
              <a:rPr lang="en-US" smtClean="0"/>
              <a:t>4</a:t>
            </a:fld>
            <a:endParaRPr lang="en-US"/>
          </a:p>
        </p:txBody>
      </p:sp>
    </p:spTree>
    <p:extLst>
      <p:ext uri="{BB962C8B-B14F-4D97-AF65-F5344CB8AC3E}">
        <p14:creationId xmlns:p14="http://schemas.microsoft.com/office/powerpoint/2010/main" val="3163761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the interface Animal that consists of two abstract methods (make noise and eat). Each method is overridden in the classes of pig and dog, but the output is different such as make noise is oink for the pig and woof for the dog. when it comes to the eat method, for the dog it says not to eat it because you hopefully wouldn't eat it. </a:t>
            </a:r>
          </a:p>
          <a:p>
            <a:r>
              <a:rPr lang="en-US" dirty="0"/>
              <a:t>With interfaces, you are capable of more flexibility with every class that implements the methods, however, when you use interfaces, EVERY method MUST be used.</a:t>
            </a:r>
          </a:p>
        </p:txBody>
      </p:sp>
      <p:sp>
        <p:nvSpPr>
          <p:cNvPr id="4" name="Slide Number Placeholder 3"/>
          <p:cNvSpPr>
            <a:spLocks noGrp="1"/>
          </p:cNvSpPr>
          <p:nvPr>
            <p:ph type="sldNum" sz="quarter" idx="5"/>
          </p:nvPr>
        </p:nvSpPr>
        <p:spPr/>
        <p:txBody>
          <a:bodyPr/>
          <a:lstStyle/>
          <a:p>
            <a:fld id="{FDBC5F2D-2091-FD41-9693-6460AFB41273}" type="slidenum">
              <a:rPr lang="en-US" smtClean="0"/>
              <a:t>5</a:t>
            </a:fld>
            <a:endParaRPr lang="en-US"/>
          </a:p>
        </p:txBody>
      </p:sp>
    </p:spTree>
    <p:extLst>
      <p:ext uri="{BB962C8B-B14F-4D97-AF65-F5344CB8AC3E}">
        <p14:creationId xmlns:p14="http://schemas.microsoft.com/office/powerpoint/2010/main" val="9205185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BC5F2D-2091-FD41-9693-6460AFB41273}" type="slidenum">
              <a:rPr lang="en-US" smtClean="0"/>
              <a:t>6</a:t>
            </a:fld>
            <a:endParaRPr lang="en-US"/>
          </a:p>
        </p:txBody>
      </p:sp>
    </p:spTree>
    <p:extLst>
      <p:ext uri="{BB962C8B-B14F-4D97-AF65-F5344CB8AC3E}">
        <p14:creationId xmlns:p14="http://schemas.microsoft.com/office/powerpoint/2010/main" val="42771085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an example class of Animal and example interfaces of Edible, </a:t>
            </a:r>
            <a:r>
              <a:rPr lang="en-US" dirty="0" err="1"/>
              <a:t>GetAround</a:t>
            </a:r>
            <a:r>
              <a:rPr lang="en-US" dirty="0"/>
              <a:t>, and Sound that return a string of how to/can eat, </a:t>
            </a:r>
            <a:r>
              <a:rPr lang="en-US" dirty="0" err="1"/>
              <a:t>booleans</a:t>
            </a:r>
            <a:r>
              <a:rPr lang="en-US" dirty="0"/>
              <a:t> of how they get around, and a string of the sound they make respectively</a:t>
            </a:r>
          </a:p>
        </p:txBody>
      </p:sp>
      <p:sp>
        <p:nvSpPr>
          <p:cNvPr id="4" name="Slide Number Placeholder 3"/>
          <p:cNvSpPr>
            <a:spLocks noGrp="1"/>
          </p:cNvSpPr>
          <p:nvPr>
            <p:ph type="sldNum" sz="quarter" idx="5"/>
          </p:nvPr>
        </p:nvSpPr>
        <p:spPr/>
        <p:txBody>
          <a:bodyPr/>
          <a:lstStyle/>
          <a:p>
            <a:fld id="{FDBC5F2D-2091-FD41-9693-6460AFB41273}" type="slidenum">
              <a:rPr lang="en-US" smtClean="0"/>
              <a:t>7</a:t>
            </a:fld>
            <a:endParaRPr lang="en-US"/>
          </a:p>
        </p:txBody>
      </p:sp>
    </p:spTree>
    <p:extLst>
      <p:ext uri="{BB962C8B-B14F-4D97-AF65-F5344CB8AC3E}">
        <p14:creationId xmlns:p14="http://schemas.microsoft.com/office/powerpoint/2010/main" val="22322668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the subclass of Dog, it extends Animal, meaning that it inherits Animals methods and attributes, as well as implementing the three interfaces. This way we can change the information they return when implemented for this subclass specifically</a:t>
            </a:r>
          </a:p>
        </p:txBody>
      </p:sp>
      <p:sp>
        <p:nvSpPr>
          <p:cNvPr id="4" name="Slide Number Placeholder 3"/>
          <p:cNvSpPr>
            <a:spLocks noGrp="1"/>
          </p:cNvSpPr>
          <p:nvPr>
            <p:ph type="sldNum" sz="quarter" idx="5"/>
          </p:nvPr>
        </p:nvSpPr>
        <p:spPr/>
        <p:txBody>
          <a:bodyPr/>
          <a:lstStyle/>
          <a:p>
            <a:fld id="{FDBC5F2D-2091-FD41-9693-6460AFB41273}" type="slidenum">
              <a:rPr lang="en-US" smtClean="0"/>
              <a:t>8</a:t>
            </a:fld>
            <a:endParaRPr lang="en-US"/>
          </a:p>
        </p:txBody>
      </p:sp>
    </p:spTree>
    <p:extLst>
      <p:ext uri="{BB962C8B-B14F-4D97-AF65-F5344CB8AC3E}">
        <p14:creationId xmlns:p14="http://schemas.microsoft.com/office/powerpoint/2010/main" val="1311033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24984822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38813574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26629631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9DCEB20-9AD8-8A41-A203-1377AF77DCBF}"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419684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9DCEB20-9AD8-8A41-A203-1377AF77DCBF}" type="datetimeFigureOut">
              <a:rPr lang="en-US" smtClean="0"/>
              <a:t>4/21/26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13157178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1925218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25099425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32443540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DCEB20-9AD8-8A41-A203-1377AF77DCBF}"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23933241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9DCEB20-9AD8-8A41-A203-1377AF77DCBF}" type="datetimeFigureOut">
              <a:rPr lang="en-US" smtClean="0"/>
              <a:t>4/21/26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1777082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4687662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3264506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6755793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37212100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142532000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107294693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9DCEB20-9AD8-8A41-A203-1377AF77DCBF}" type="datetimeFigureOut">
              <a:rPr lang="en-US" smtClean="0"/>
              <a:t>4/21/26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A3F1ED9-1748-6947-87DC-D36DE64E265B}" type="slidenum">
              <a:rPr lang="en-US" smtClean="0"/>
              <a:t>‹#›</a:t>
            </a:fld>
            <a:endParaRPr lang="en-US"/>
          </a:p>
        </p:txBody>
      </p:sp>
    </p:spTree>
    <p:extLst>
      <p:ext uri="{BB962C8B-B14F-4D97-AF65-F5344CB8AC3E}">
        <p14:creationId xmlns:p14="http://schemas.microsoft.com/office/powerpoint/2010/main" val="5544471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09DCEB20-9AD8-8A41-A203-1377AF77DCBF}" type="datetimeFigureOut">
              <a:rPr lang="en-US" smtClean="0"/>
              <a:t>4/21/26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4A3F1ED9-1748-6947-87DC-D36DE64E265B}" type="slidenum">
              <a:rPr lang="en-US" smtClean="0"/>
              <a:t>‹#›</a:t>
            </a:fld>
            <a:endParaRPr lang="en-US"/>
          </a:p>
        </p:txBody>
      </p:sp>
    </p:spTree>
    <p:extLst>
      <p:ext uri="{BB962C8B-B14F-4D97-AF65-F5344CB8AC3E}">
        <p14:creationId xmlns:p14="http://schemas.microsoft.com/office/powerpoint/2010/main" val="164417373"/>
      </p:ext>
    </p:extLst>
  </p:cSld>
  <p:clrMap bg1="dk1" tx1="lt1" bg2="dk2" tx2="lt2" accent1="accent1" accent2="accent2" accent3="accent3" accent4="accent4" accent5="accent5" accent6="accent6" hlink="hlink" folHlink="folHlink"/>
  <p:sldLayoutIdLst>
    <p:sldLayoutId id="2147483787" r:id="rId1"/>
    <p:sldLayoutId id="2147483788" r:id="rId2"/>
    <p:sldLayoutId id="2147483789" r:id="rId3"/>
    <p:sldLayoutId id="2147483790" r:id="rId4"/>
    <p:sldLayoutId id="2147483791" r:id="rId5"/>
    <p:sldLayoutId id="2147483792" r:id="rId6"/>
    <p:sldLayoutId id="2147483793" r:id="rId7"/>
    <p:sldLayoutId id="2147483794" r:id="rId8"/>
    <p:sldLayoutId id="2147483795" r:id="rId9"/>
    <p:sldLayoutId id="2147483796" r:id="rId10"/>
    <p:sldLayoutId id="2147483797" r:id="rId11"/>
    <p:sldLayoutId id="2147483798" r:id="rId12"/>
    <p:sldLayoutId id="2147483799" r:id="rId13"/>
    <p:sldLayoutId id="2147483800" r:id="rId14"/>
    <p:sldLayoutId id="2147483801" r:id="rId15"/>
    <p:sldLayoutId id="2147483802" r:id="rId16"/>
    <p:sldLayoutId id="2147483803"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2.m4a"/><Relationship Id="rId1" Type="http://schemas.microsoft.com/office/2007/relationships/media" Target="../media/media2.m4a"/><Relationship Id="rId5" Type="http://schemas.openxmlformats.org/officeDocument/2006/relationships/image" Target="../media/image6.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3.m4a"/><Relationship Id="rId1" Type="http://schemas.microsoft.com/office/2007/relationships/media" Target="../media/media3.m4a"/><Relationship Id="rId5" Type="http://schemas.openxmlformats.org/officeDocument/2006/relationships/image" Target="../media/image6.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5" Type="http://schemas.openxmlformats.org/officeDocument/2006/relationships/image" Target="../media/image6.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6" Type="http://schemas.openxmlformats.org/officeDocument/2006/relationships/image" Target="../media/image6.png"/><Relationship Id="rId5" Type="http://schemas.openxmlformats.org/officeDocument/2006/relationships/image" Target="../media/image7.png"/><Relationship Id="rId4"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5" Type="http://schemas.openxmlformats.org/officeDocument/2006/relationships/image" Target="../media/image6.png"/><Relationship Id="rId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6.png"/><Relationship Id="rId5" Type="http://schemas.openxmlformats.org/officeDocument/2006/relationships/image" Target="../media/image8.png"/><Relationship Id="rId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9.m4a"/><Relationship Id="rId1" Type="http://schemas.microsoft.com/office/2007/relationships/media" Target="../media/media9.m4a"/><Relationship Id="rId6" Type="http://schemas.openxmlformats.org/officeDocument/2006/relationships/image" Target="../media/image6.png"/><Relationship Id="rId5" Type="http://schemas.openxmlformats.org/officeDocument/2006/relationships/image" Target="../media/image11.png"/><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0.m4a"/><Relationship Id="rId1" Type="http://schemas.microsoft.com/office/2007/relationships/media" Target="../media/media10.m4a"/><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BB7992-107B-7FD7-CC82-A8BA27061505}"/>
              </a:ext>
            </a:extLst>
          </p:cNvPr>
          <p:cNvSpPr>
            <a:spLocks noGrp="1"/>
          </p:cNvSpPr>
          <p:nvPr>
            <p:ph type="ctrTitle"/>
          </p:nvPr>
        </p:nvSpPr>
        <p:spPr/>
        <p:txBody>
          <a:bodyPr/>
          <a:lstStyle/>
          <a:p>
            <a:r>
              <a:rPr lang="en-US" dirty="0"/>
              <a:t>Interfaces</a:t>
            </a:r>
          </a:p>
        </p:txBody>
      </p:sp>
      <p:sp>
        <p:nvSpPr>
          <p:cNvPr id="3" name="Subtitle 2">
            <a:extLst>
              <a:ext uri="{FF2B5EF4-FFF2-40B4-BE49-F238E27FC236}">
                <a16:creationId xmlns:a16="http://schemas.microsoft.com/office/drawing/2014/main" id="{DA71BE02-E2C0-4974-7ADF-D3BC8CCD9632}"/>
              </a:ext>
            </a:extLst>
          </p:cNvPr>
          <p:cNvSpPr>
            <a:spLocks noGrp="1"/>
          </p:cNvSpPr>
          <p:nvPr>
            <p:ph type="subTitle" idx="1"/>
          </p:nvPr>
        </p:nvSpPr>
        <p:spPr/>
        <p:txBody>
          <a:bodyPr/>
          <a:lstStyle/>
          <a:p>
            <a:r>
              <a:rPr lang="en-US" dirty="0"/>
              <a:t>The briefest way I can possibly sell it without losing you </a:t>
            </a:r>
          </a:p>
          <a:p>
            <a:r>
              <a:rPr lang="en-US" dirty="0"/>
              <a:t>Feat. A split second of Abstract methods – K. Surratt</a:t>
            </a:r>
          </a:p>
        </p:txBody>
      </p:sp>
      <p:pic>
        <p:nvPicPr>
          <p:cNvPr id="12" name="Audio 11">
            <a:extLst>
              <a:ext uri="{FF2B5EF4-FFF2-40B4-BE49-F238E27FC236}">
                <a16:creationId xmlns:a16="http://schemas.microsoft.com/office/drawing/2014/main" id="{6EED3C93-7BF1-CED3-2A84-591890C0DE60}"/>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1342149519"/>
      </p:ext>
    </p:extLst>
  </p:cSld>
  <p:clrMapOvr>
    <a:masterClrMapping/>
  </p:clrMapOvr>
  <mc:AlternateContent xmlns:mc="http://schemas.openxmlformats.org/markup-compatibility/2006">
    <mc:Choice xmlns:p14="http://schemas.microsoft.com/office/powerpoint/2010/main" Requires="p14">
      <p:transition spd="slow" p14:dur="2000" advTm="9980"/>
    </mc:Choice>
    <mc:Fallback>
      <p:transition spd="slow" advTm="99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20363-E5F5-94C4-31F2-51403909EECF}"/>
              </a:ext>
            </a:extLst>
          </p:cNvPr>
          <p:cNvSpPr>
            <a:spLocks noGrp="1"/>
          </p:cNvSpPr>
          <p:nvPr>
            <p:ph type="title"/>
          </p:nvPr>
        </p:nvSpPr>
        <p:spPr/>
        <p:txBody>
          <a:bodyPr/>
          <a:lstStyle/>
          <a:p>
            <a:r>
              <a:rPr lang="en-US" dirty="0"/>
              <a:t>Interfaces are…</a:t>
            </a:r>
          </a:p>
        </p:txBody>
      </p:sp>
      <p:sp>
        <p:nvSpPr>
          <p:cNvPr id="3" name="Content Placeholder 2">
            <a:extLst>
              <a:ext uri="{FF2B5EF4-FFF2-40B4-BE49-F238E27FC236}">
                <a16:creationId xmlns:a16="http://schemas.microsoft.com/office/drawing/2014/main" id="{EFCA75B7-A2A9-8A7F-359D-B6CC0543DE04}"/>
              </a:ext>
            </a:extLst>
          </p:cNvPr>
          <p:cNvSpPr>
            <a:spLocks noGrp="1"/>
          </p:cNvSpPr>
          <p:nvPr>
            <p:ph idx="1"/>
          </p:nvPr>
        </p:nvSpPr>
        <p:spPr/>
        <p:txBody>
          <a:bodyPr/>
          <a:lstStyle/>
          <a:p>
            <a:r>
              <a:rPr lang="en-US" dirty="0"/>
              <a:t>A completely abstract class that groups together related abstract methods with empty bodies with the intent of of specifying common </a:t>
            </a:r>
            <a:r>
              <a:rPr lang="en-US" dirty="0" err="1"/>
              <a:t>behaviours</a:t>
            </a:r>
            <a:endParaRPr lang="en-US" dirty="0"/>
          </a:p>
          <a:p>
            <a:r>
              <a:rPr lang="en-US" dirty="0"/>
              <a:t>When create, they </a:t>
            </a:r>
            <a:r>
              <a:rPr lang="en-US" b="1" dirty="0"/>
              <a:t>cannot</a:t>
            </a:r>
            <a:r>
              <a:rPr lang="en-US" dirty="0"/>
              <a:t> contain constructors, because they are not capable of being instantiated, they must be implemented by the subclass by using the </a:t>
            </a:r>
            <a:r>
              <a:rPr lang="en-US" dirty="0">
                <a:latin typeface="Andale Mono" panose="020B0509000000000004" pitchFamily="49" charset="0"/>
              </a:rPr>
              <a:t>implements</a:t>
            </a:r>
            <a:r>
              <a:rPr lang="en-US" dirty="0"/>
              <a:t> keyword</a:t>
            </a:r>
          </a:p>
          <a:p>
            <a:r>
              <a:rPr lang="en-US" dirty="0"/>
              <a:t>Syntax:</a:t>
            </a:r>
          </a:p>
          <a:p>
            <a:pPr lvl="1"/>
            <a:r>
              <a:rPr lang="en-US" dirty="0"/>
              <a:t>modifier interface </a:t>
            </a:r>
            <a:r>
              <a:rPr lang="en-US" dirty="0" err="1"/>
              <a:t>InterfaceName</a:t>
            </a:r>
            <a:r>
              <a:rPr lang="en-US" dirty="0"/>
              <a:t>{…}</a:t>
            </a:r>
          </a:p>
          <a:p>
            <a:r>
              <a:rPr lang="en-US" dirty="0"/>
              <a:t>Simply put, think of an interface as a place to store all of your abstract methods that can be referenced by various subclasses as needed</a:t>
            </a:r>
          </a:p>
        </p:txBody>
      </p:sp>
      <p:pic>
        <p:nvPicPr>
          <p:cNvPr id="17" name="Audio 16">
            <a:extLst>
              <a:ext uri="{FF2B5EF4-FFF2-40B4-BE49-F238E27FC236}">
                <a16:creationId xmlns:a16="http://schemas.microsoft.com/office/drawing/2014/main" id="{DA7E8D3F-C05D-4FD7-BE2F-0568FEF8A9BC}"/>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27093161"/>
      </p:ext>
    </p:extLst>
  </p:cSld>
  <p:clrMapOvr>
    <a:masterClrMapping/>
  </p:clrMapOvr>
  <mc:AlternateContent xmlns:mc="http://schemas.openxmlformats.org/markup-compatibility/2006">
    <mc:Choice xmlns:p14="http://schemas.microsoft.com/office/powerpoint/2010/main" Requires="p14">
      <p:transition spd="slow" p14:dur="2000" advTm="52800"/>
    </mc:Choice>
    <mc:Fallback>
      <p:transition spd="slow" advTm="528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CEB38-5715-791D-3A90-C72A0F7E9166}"/>
              </a:ext>
            </a:extLst>
          </p:cNvPr>
          <p:cNvSpPr>
            <a:spLocks noGrp="1"/>
          </p:cNvSpPr>
          <p:nvPr>
            <p:ph type="title"/>
          </p:nvPr>
        </p:nvSpPr>
        <p:spPr/>
        <p:txBody>
          <a:bodyPr/>
          <a:lstStyle/>
          <a:p>
            <a:r>
              <a:rPr lang="en-US" dirty="0"/>
              <a:t>Hold on, what’s an abstract method?!</a:t>
            </a:r>
          </a:p>
        </p:txBody>
      </p:sp>
      <p:sp>
        <p:nvSpPr>
          <p:cNvPr id="3" name="Content Placeholder 2">
            <a:extLst>
              <a:ext uri="{FF2B5EF4-FFF2-40B4-BE49-F238E27FC236}">
                <a16:creationId xmlns:a16="http://schemas.microsoft.com/office/drawing/2014/main" id="{C5A65068-1969-7C1B-A409-E49BD8234A06}"/>
              </a:ext>
            </a:extLst>
          </p:cNvPr>
          <p:cNvSpPr>
            <a:spLocks noGrp="1"/>
          </p:cNvSpPr>
          <p:nvPr>
            <p:ph idx="1"/>
          </p:nvPr>
        </p:nvSpPr>
        <p:spPr/>
        <p:txBody>
          <a:bodyPr>
            <a:normAutofit lnSpcReduction="10000"/>
          </a:bodyPr>
          <a:lstStyle/>
          <a:p>
            <a:r>
              <a:rPr lang="en-US" dirty="0"/>
              <a:t>It’s a bodiless method that’s only used in abstract classes (and interfaces)</a:t>
            </a:r>
          </a:p>
          <a:p>
            <a:r>
              <a:rPr lang="en-US" dirty="0"/>
              <a:t>The method only gets a body once overridden in the subclass that implements it</a:t>
            </a:r>
          </a:p>
          <a:p>
            <a:r>
              <a:rPr lang="en-US" dirty="0"/>
              <a:t>Any class that contains an abstract method is now abstract</a:t>
            </a:r>
          </a:p>
          <a:p>
            <a:r>
              <a:rPr lang="en-US" dirty="0"/>
              <a:t>Syntax: </a:t>
            </a:r>
          </a:p>
          <a:p>
            <a:pPr lvl="1"/>
            <a:r>
              <a:rPr lang="en-US" i="1" dirty="0"/>
              <a:t>modifier </a:t>
            </a:r>
            <a:r>
              <a:rPr lang="en-US" dirty="0"/>
              <a:t>abstract </a:t>
            </a:r>
            <a:r>
              <a:rPr lang="en-US" i="1" dirty="0" err="1"/>
              <a:t>returnVal</a:t>
            </a:r>
            <a:r>
              <a:rPr lang="en-US" i="1" dirty="0"/>
              <a:t> </a:t>
            </a:r>
            <a:r>
              <a:rPr lang="en-US" i="1" dirty="0" err="1"/>
              <a:t>methodName</a:t>
            </a:r>
            <a:r>
              <a:rPr lang="en-US" i="1" dirty="0"/>
              <a:t>();</a:t>
            </a:r>
          </a:p>
          <a:p>
            <a:pPr lvl="1"/>
            <a:r>
              <a:rPr lang="en-US" i="1" dirty="0"/>
              <a:t>Because it has no body, it is written as though it’s being declared like a variable</a:t>
            </a:r>
          </a:p>
          <a:p>
            <a:pPr marL="0" indent="0">
              <a:buNone/>
            </a:pPr>
            <a:endParaRPr lang="en-US" dirty="0"/>
          </a:p>
          <a:p>
            <a:pPr marL="0" indent="0">
              <a:buNone/>
            </a:pPr>
            <a:r>
              <a:rPr lang="en-US" dirty="0"/>
              <a:t>Simply put: A method that can be implemented within various subclasses, but is dependent on the thing implementing it</a:t>
            </a:r>
          </a:p>
        </p:txBody>
      </p:sp>
      <p:pic>
        <p:nvPicPr>
          <p:cNvPr id="12" name="Audio 11">
            <a:extLst>
              <a:ext uri="{FF2B5EF4-FFF2-40B4-BE49-F238E27FC236}">
                <a16:creationId xmlns:a16="http://schemas.microsoft.com/office/drawing/2014/main" id="{345A5440-DE31-BEBF-5E77-0CF1E00778F6}"/>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107904068"/>
      </p:ext>
    </p:extLst>
  </p:cSld>
  <p:clrMapOvr>
    <a:masterClrMapping/>
  </p:clrMapOvr>
  <mc:AlternateContent xmlns:mc="http://schemas.openxmlformats.org/markup-compatibility/2006">
    <mc:Choice xmlns:p14="http://schemas.microsoft.com/office/powerpoint/2010/main" Requires="p14">
      <p:transition spd="slow" p14:dur="2000" advTm="28720"/>
    </mc:Choice>
    <mc:Fallback>
      <p:transition spd="slow" advTm="287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EA3CD-6D62-30DF-24BD-5C5A1479638B}"/>
              </a:ext>
            </a:extLst>
          </p:cNvPr>
          <p:cNvSpPr>
            <a:spLocks noGrp="1"/>
          </p:cNvSpPr>
          <p:nvPr>
            <p:ph type="title"/>
          </p:nvPr>
        </p:nvSpPr>
        <p:spPr/>
        <p:txBody>
          <a:bodyPr/>
          <a:lstStyle/>
          <a:p>
            <a:r>
              <a:rPr lang="en-US" dirty="0"/>
              <a:t>Why interfaces??</a:t>
            </a:r>
          </a:p>
        </p:txBody>
      </p:sp>
      <p:sp>
        <p:nvSpPr>
          <p:cNvPr id="3" name="Content Placeholder 2">
            <a:extLst>
              <a:ext uri="{FF2B5EF4-FFF2-40B4-BE49-F238E27FC236}">
                <a16:creationId xmlns:a16="http://schemas.microsoft.com/office/drawing/2014/main" id="{AF7DCA1F-ADAA-C984-4C01-951EB937D1FE}"/>
              </a:ext>
            </a:extLst>
          </p:cNvPr>
          <p:cNvSpPr>
            <a:spLocks noGrp="1"/>
          </p:cNvSpPr>
          <p:nvPr>
            <p:ph idx="1"/>
          </p:nvPr>
        </p:nvSpPr>
        <p:spPr/>
        <p:txBody>
          <a:bodyPr/>
          <a:lstStyle/>
          <a:p>
            <a:r>
              <a:rPr lang="en-US" dirty="0"/>
              <a:t>With interfaces, you can implement many abstract methods without affecting the superclass</a:t>
            </a:r>
          </a:p>
          <a:p>
            <a:r>
              <a:rPr lang="en-US" dirty="0"/>
              <a:t>This allows for flexibility and a cheat to multiple inheritance (will explain later)</a:t>
            </a:r>
          </a:p>
        </p:txBody>
      </p:sp>
      <p:pic>
        <p:nvPicPr>
          <p:cNvPr id="8" name="Audio 7">
            <a:extLst>
              <a:ext uri="{FF2B5EF4-FFF2-40B4-BE49-F238E27FC236}">
                <a16:creationId xmlns:a16="http://schemas.microsoft.com/office/drawing/2014/main" id="{FBE1EE48-261F-C2C5-D0CF-4CBFD03176C3}"/>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2586121778"/>
      </p:ext>
    </p:extLst>
  </p:cSld>
  <p:clrMapOvr>
    <a:masterClrMapping/>
  </p:clrMapOvr>
  <mc:AlternateContent xmlns:mc="http://schemas.openxmlformats.org/markup-compatibility/2006">
    <mc:Choice xmlns:p14="http://schemas.microsoft.com/office/powerpoint/2010/main" Requires="p14">
      <p:transition spd="slow" p14:dur="2000" advTm="32900"/>
    </mc:Choice>
    <mc:Fallback>
      <p:transition spd="slow" advTm="329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8"/>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21AAB-63A7-4E4D-EF03-3869A126AE0C}"/>
              </a:ext>
            </a:extLst>
          </p:cNvPr>
          <p:cNvSpPr>
            <a:spLocks noGrp="1"/>
          </p:cNvSpPr>
          <p:nvPr>
            <p:ph type="title"/>
          </p:nvPr>
        </p:nvSpPr>
        <p:spPr/>
        <p:txBody>
          <a:bodyPr/>
          <a:lstStyle/>
          <a:p>
            <a:r>
              <a:rPr lang="en-US" dirty="0"/>
              <a:t>How to use an interface</a:t>
            </a:r>
          </a:p>
        </p:txBody>
      </p:sp>
      <p:pic>
        <p:nvPicPr>
          <p:cNvPr id="5" name="Content Placeholder 4">
            <a:extLst>
              <a:ext uri="{FF2B5EF4-FFF2-40B4-BE49-F238E27FC236}">
                <a16:creationId xmlns:a16="http://schemas.microsoft.com/office/drawing/2014/main" id="{84C178E8-7716-2A69-8F61-DBF307AEF996}"/>
              </a:ext>
            </a:extLst>
          </p:cNvPr>
          <p:cNvPicPr>
            <a:picLocks noGrp="1" noChangeAspect="1"/>
          </p:cNvPicPr>
          <p:nvPr>
            <p:ph idx="1"/>
          </p:nvPr>
        </p:nvPicPr>
        <p:blipFill>
          <a:blip r:embed="rId5"/>
          <a:stretch>
            <a:fillRect/>
          </a:stretch>
        </p:blipFill>
        <p:spPr>
          <a:xfrm>
            <a:off x="7112350" y="1449676"/>
            <a:ext cx="4433539" cy="4955606"/>
          </a:xfrm>
        </p:spPr>
      </p:pic>
      <p:sp>
        <p:nvSpPr>
          <p:cNvPr id="6" name="TextBox 5">
            <a:extLst>
              <a:ext uri="{FF2B5EF4-FFF2-40B4-BE49-F238E27FC236}">
                <a16:creationId xmlns:a16="http://schemas.microsoft.com/office/drawing/2014/main" id="{05E10A55-61A2-832B-CC0E-E68DDF70A345}"/>
              </a:ext>
            </a:extLst>
          </p:cNvPr>
          <p:cNvSpPr txBox="1"/>
          <p:nvPr/>
        </p:nvSpPr>
        <p:spPr>
          <a:xfrm>
            <a:off x="646111" y="1449676"/>
            <a:ext cx="5449889" cy="4247317"/>
          </a:xfrm>
          <a:prstGeom prst="rect">
            <a:avLst/>
          </a:prstGeom>
          <a:noFill/>
        </p:spPr>
        <p:txBody>
          <a:bodyPr wrap="square" rtlCol="0">
            <a:spAutoFit/>
          </a:bodyPr>
          <a:lstStyle/>
          <a:p>
            <a:r>
              <a:rPr lang="en-US" dirty="0"/>
              <a:t>As seen here, the interface Animal consists of two abstract methods </a:t>
            </a:r>
            <a:r>
              <a:rPr lang="en-US" dirty="0" err="1"/>
              <a:t>makeNoise</a:t>
            </a:r>
            <a:r>
              <a:rPr lang="en-US" dirty="0"/>
              <a:t>() and eat(). Each of these methods are then overridden in the classes Pig and Dog but the output for each is different.</a:t>
            </a:r>
          </a:p>
          <a:p>
            <a:r>
              <a:rPr lang="en-US" dirty="0"/>
              <a:t>Where the pig says oink, the dog says bark. Where there are recommendations for eating the pig, there are none for the dog because you (hopefully) wouldn’t eat a dog.</a:t>
            </a:r>
          </a:p>
          <a:p>
            <a:r>
              <a:rPr lang="en-US" dirty="0"/>
              <a:t>Using interfaces allows you to decide exactly how each method is defined for that class without having to worry about there being an error.</a:t>
            </a:r>
          </a:p>
          <a:p>
            <a:r>
              <a:rPr lang="en-US" dirty="0"/>
              <a:t>However, if you use interfaces, you must be sure to use </a:t>
            </a:r>
            <a:r>
              <a:rPr lang="en-US" b="1" i="1" dirty="0"/>
              <a:t>every </a:t>
            </a:r>
            <a:r>
              <a:rPr lang="en-US" dirty="0"/>
              <a:t>method within the interface.</a:t>
            </a:r>
          </a:p>
        </p:txBody>
      </p:sp>
      <p:pic>
        <p:nvPicPr>
          <p:cNvPr id="10" name="Audio 9">
            <a:extLst>
              <a:ext uri="{FF2B5EF4-FFF2-40B4-BE49-F238E27FC236}">
                <a16:creationId xmlns:a16="http://schemas.microsoft.com/office/drawing/2014/main" id="{D3D7DFC6-438B-0E08-724A-1CAB5E4E665C}"/>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072602024"/>
      </p:ext>
    </p:extLst>
  </p:cSld>
  <p:clrMapOvr>
    <a:masterClrMapping/>
  </p:clrMapOvr>
  <mc:AlternateContent xmlns:mc="http://schemas.openxmlformats.org/markup-compatibility/2006">
    <mc:Choice xmlns:p14="http://schemas.microsoft.com/office/powerpoint/2010/main" Requires="p14">
      <p:transition spd="slow" p14:dur="2000" advTm="49280"/>
    </mc:Choice>
    <mc:Fallback>
      <p:transition spd="slow" advTm="492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0"/>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0"/>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438241-4E7E-C5CE-CF45-3AA5EB88CEA0}"/>
              </a:ext>
            </a:extLst>
          </p:cNvPr>
          <p:cNvSpPr>
            <a:spLocks noGrp="1"/>
          </p:cNvSpPr>
          <p:nvPr>
            <p:ph type="title"/>
          </p:nvPr>
        </p:nvSpPr>
        <p:spPr/>
        <p:txBody>
          <a:bodyPr/>
          <a:lstStyle/>
          <a:p>
            <a:r>
              <a:rPr lang="en-US" dirty="0"/>
              <a:t>Loopholing Multiple Inheritance</a:t>
            </a:r>
          </a:p>
        </p:txBody>
      </p:sp>
      <p:sp>
        <p:nvSpPr>
          <p:cNvPr id="3" name="Content Placeholder 2">
            <a:extLst>
              <a:ext uri="{FF2B5EF4-FFF2-40B4-BE49-F238E27FC236}">
                <a16:creationId xmlns:a16="http://schemas.microsoft.com/office/drawing/2014/main" id="{5D6316ED-9B57-78E3-2F6B-A39AADA2323A}"/>
              </a:ext>
            </a:extLst>
          </p:cNvPr>
          <p:cNvSpPr>
            <a:spLocks noGrp="1"/>
          </p:cNvSpPr>
          <p:nvPr>
            <p:ph idx="1"/>
          </p:nvPr>
        </p:nvSpPr>
        <p:spPr/>
        <p:txBody>
          <a:bodyPr/>
          <a:lstStyle/>
          <a:p>
            <a:r>
              <a:rPr lang="en-US" dirty="0"/>
              <a:t>With Java, you cannot have a subclass inherit multiple </a:t>
            </a:r>
            <a:r>
              <a:rPr lang="en-US" dirty="0" err="1"/>
              <a:t>superclasses</a:t>
            </a:r>
            <a:r>
              <a:rPr lang="en-US" dirty="0"/>
              <a:t>, however, with interfaces, you can do just that</a:t>
            </a:r>
          </a:p>
          <a:p>
            <a:r>
              <a:rPr lang="en-US" dirty="0"/>
              <a:t>With interfaces, you can extend a class and then implement multiple interfaces so that you can call upon all methods as needed</a:t>
            </a:r>
          </a:p>
          <a:p>
            <a:r>
              <a:rPr lang="en-US" dirty="0"/>
              <a:t>That is done by:</a:t>
            </a:r>
          </a:p>
        </p:txBody>
      </p:sp>
      <p:pic>
        <p:nvPicPr>
          <p:cNvPr id="17" name="Audio 16">
            <a:extLst>
              <a:ext uri="{FF2B5EF4-FFF2-40B4-BE49-F238E27FC236}">
                <a16:creationId xmlns:a16="http://schemas.microsoft.com/office/drawing/2014/main" id="{B867E748-A39B-A994-0469-58AE3C32A994}"/>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249272605"/>
      </p:ext>
    </p:extLst>
  </p:cSld>
  <p:clrMapOvr>
    <a:masterClrMapping/>
  </p:clrMapOvr>
  <mc:AlternateContent xmlns:mc="http://schemas.openxmlformats.org/markup-compatibility/2006">
    <mc:Choice xmlns:p14="http://schemas.microsoft.com/office/powerpoint/2010/main" Requires="p14">
      <p:transition spd="slow" p14:dur="2000" advTm="38680"/>
    </mc:Choice>
    <mc:Fallback>
      <p:transition spd="slow" advTm="386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7"/>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BC832C-0C79-A049-5253-56E2F25F07E6}"/>
              </a:ext>
            </a:extLst>
          </p:cNvPr>
          <p:cNvSpPr>
            <a:spLocks noGrp="1"/>
          </p:cNvSpPr>
          <p:nvPr>
            <p:ph type="title"/>
          </p:nvPr>
        </p:nvSpPr>
        <p:spPr/>
        <p:txBody>
          <a:bodyPr/>
          <a:lstStyle/>
          <a:p>
            <a:r>
              <a:rPr lang="en-US" dirty="0"/>
              <a:t>First, create a class and multiple interfaces:</a:t>
            </a:r>
          </a:p>
        </p:txBody>
      </p:sp>
      <p:pic>
        <p:nvPicPr>
          <p:cNvPr id="5" name="Content Placeholder 4">
            <a:extLst>
              <a:ext uri="{FF2B5EF4-FFF2-40B4-BE49-F238E27FC236}">
                <a16:creationId xmlns:a16="http://schemas.microsoft.com/office/drawing/2014/main" id="{7FA0CEAF-551E-A0BE-69FD-BC13E1884EEE}"/>
              </a:ext>
            </a:extLst>
          </p:cNvPr>
          <p:cNvPicPr>
            <a:picLocks noGrp="1" noChangeAspect="1"/>
          </p:cNvPicPr>
          <p:nvPr>
            <p:ph idx="1"/>
          </p:nvPr>
        </p:nvPicPr>
        <p:blipFill>
          <a:blip r:embed="rId5"/>
          <a:stretch>
            <a:fillRect/>
          </a:stretch>
        </p:blipFill>
        <p:spPr>
          <a:xfrm>
            <a:off x="3672772" y="1853248"/>
            <a:ext cx="3813877" cy="4943916"/>
          </a:xfrm>
        </p:spPr>
      </p:pic>
      <p:pic>
        <p:nvPicPr>
          <p:cNvPr id="13" name="Audio 12">
            <a:extLst>
              <a:ext uri="{FF2B5EF4-FFF2-40B4-BE49-F238E27FC236}">
                <a16:creationId xmlns:a16="http://schemas.microsoft.com/office/drawing/2014/main" id="{08C8B25F-2B4C-5C16-C859-307C4196465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09740405"/>
      </p:ext>
    </p:extLst>
  </p:cSld>
  <p:clrMapOvr>
    <a:masterClrMapping/>
  </p:clrMapOvr>
  <mc:AlternateContent xmlns:mc="http://schemas.openxmlformats.org/markup-compatibility/2006">
    <mc:Choice xmlns:p14="http://schemas.microsoft.com/office/powerpoint/2010/main" Requires="p14">
      <p:transition spd="slow" p14:dur="2000" advTm="23600"/>
    </mc:Choice>
    <mc:Fallback>
      <p:transition spd="slow" advTm="236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7D5A1-3BFF-4860-364E-134B12E89EC5}"/>
              </a:ext>
            </a:extLst>
          </p:cNvPr>
          <p:cNvSpPr>
            <a:spLocks noGrp="1"/>
          </p:cNvSpPr>
          <p:nvPr>
            <p:ph type="title"/>
          </p:nvPr>
        </p:nvSpPr>
        <p:spPr/>
        <p:txBody>
          <a:bodyPr/>
          <a:lstStyle/>
          <a:p>
            <a:r>
              <a:rPr lang="en-US" sz="4000" dirty="0"/>
              <a:t>Then create the subclass, extend the super class and implement the interfaces</a:t>
            </a:r>
          </a:p>
        </p:txBody>
      </p:sp>
      <p:pic>
        <p:nvPicPr>
          <p:cNvPr id="5" name="Content Placeholder 4">
            <a:extLst>
              <a:ext uri="{FF2B5EF4-FFF2-40B4-BE49-F238E27FC236}">
                <a16:creationId xmlns:a16="http://schemas.microsoft.com/office/drawing/2014/main" id="{7EA705FA-1F21-EB65-61E6-DE618EDD037E}"/>
              </a:ext>
            </a:extLst>
          </p:cNvPr>
          <p:cNvPicPr>
            <a:picLocks noGrp="1" noChangeAspect="1"/>
          </p:cNvPicPr>
          <p:nvPr>
            <p:ph idx="1"/>
          </p:nvPr>
        </p:nvPicPr>
        <p:blipFill>
          <a:blip r:embed="rId5"/>
          <a:stretch>
            <a:fillRect/>
          </a:stretch>
        </p:blipFill>
        <p:spPr>
          <a:xfrm>
            <a:off x="4782309" y="1714500"/>
            <a:ext cx="4096593" cy="5143500"/>
          </a:xfrm>
        </p:spPr>
      </p:pic>
      <p:pic>
        <p:nvPicPr>
          <p:cNvPr id="12" name="Audio 11">
            <a:extLst>
              <a:ext uri="{FF2B5EF4-FFF2-40B4-BE49-F238E27FC236}">
                <a16:creationId xmlns:a16="http://schemas.microsoft.com/office/drawing/2014/main" id="{5241C755-6C8F-3B22-0FBF-D008F533911A}"/>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791808179"/>
      </p:ext>
    </p:extLst>
  </p:cSld>
  <p:clrMapOvr>
    <a:masterClrMapping/>
  </p:clrMapOvr>
  <mc:AlternateContent xmlns:mc="http://schemas.openxmlformats.org/markup-compatibility/2006">
    <mc:Choice xmlns:p14="http://schemas.microsoft.com/office/powerpoint/2010/main" Requires="p14">
      <p:transition spd="slow" p14:dur="2000" advTm="49200"/>
    </mc:Choice>
    <mc:Fallback>
      <p:transition spd="slow" advTm="492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2"/>
                </p:tgtEl>
              </p:cMediaNode>
            </p:audi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2AD1-CF5D-3CE5-A82D-F4B046530938}"/>
              </a:ext>
            </a:extLst>
          </p:cNvPr>
          <p:cNvSpPr>
            <a:spLocks noGrp="1"/>
          </p:cNvSpPr>
          <p:nvPr>
            <p:ph type="title"/>
          </p:nvPr>
        </p:nvSpPr>
        <p:spPr/>
        <p:txBody>
          <a:bodyPr/>
          <a:lstStyle/>
          <a:p>
            <a:r>
              <a:rPr lang="en-US" dirty="0"/>
              <a:t>Key Notes about Interfaces:</a:t>
            </a:r>
          </a:p>
        </p:txBody>
      </p:sp>
      <p:sp>
        <p:nvSpPr>
          <p:cNvPr id="3" name="Content Placeholder 2">
            <a:extLst>
              <a:ext uri="{FF2B5EF4-FFF2-40B4-BE49-F238E27FC236}">
                <a16:creationId xmlns:a16="http://schemas.microsoft.com/office/drawing/2014/main" id="{128D3470-070D-A9F1-2A74-EC5AFF6C34EF}"/>
              </a:ext>
            </a:extLst>
          </p:cNvPr>
          <p:cNvSpPr>
            <a:spLocks noGrp="1"/>
          </p:cNvSpPr>
          <p:nvPr>
            <p:ph idx="1"/>
          </p:nvPr>
        </p:nvSpPr>
        <p:spPr/>
        <p:txBody>
          <a:bodyPr>
            <a:normAutofit/>
          </a:bodyPr>
          <a:lstStyle/>
          <a:p>
            <a:r>
              <a:rPr lang="en-US" dirty="0"/>
              <a:t>They are </a:t>
            </a:r>
            <a:r>
              <a:rPr lang="en-US" b="1" dirty="0"/>
              <a:t>always</a:t>
            </a:r>
            <a:r>
              <a:rPr lang="en-US" dirty="0"/>
              <a:t> abstract and </a:t>
            </a:r>
            <a:r>
              <a:rPr lang="en-US" b="1" dirty="0"/>
              <a:t>never</a:t>
            </a:r>
            <a:r>
              <a:rPr lang="en-US" dirty="0"/>
              <a:t> have constructors</a:t>
            </a:r>
          </a:p>
          <a:p>
            <a:r>
              <a:rPr lang="en-US" dirty="0"/>
              <a:t>Can only be used with the </a:t>
            </a:r>
            <a:r>
              <a:rPr lang="en-US" dirty="0">
                <a:latin typeface="Andale Mono" panose="020B0509000000000004" pitchFamily="49" charset="0"/>
              </a:rPr>
              <a:t>implements</a:t>
            </a:r>
            <a:r>
              <a:rPr lang="en-US" dirty="0"/>
              <a:t> keyword</a:t>
            </a:r>
          </a:p>
          <a:p>
            <a:r>
              <a:rPr lang="en-US" dirty="0"/>
              <a:t>Can be declared with the public keyword, or package-private by just using interface </a:t>
            </a:r>
            <a:r>
              <a:rPr lang="en-US" dirty="0" err="1"/>
              <a:t>InterfaceName</a:t>
            </a:r>
            <a:endParaRPr lang="en-US" dirty="0"/>
          </a:p>
          <a:p>
            <a:r>
              <a:rPr lang="en-US" dirty="0"/>
              <a:t>Since all variables are final and all methods are abstract you can declare an interface with:</a:t>
            </a:r>
          </a:p>
          <a:p>
            <a:endParaRPr lang="en-US" dirty="0"/>
          </a:p>
          <a:p>
            <a:pPr marL="3657600" lvl="8" indent="0">
              <a:buNone/>
            </a:pPr>
            <a:r>
              <a:rPr lang="en-US" dirty="0"/>
              <a:t>  or</a:t>
            </a:r>
          </a:p>
          <a:p>
            <a:pPr marL="0" indent="0">
              <a:buNone/>
            </a:pPr>
            <a:endParaRPr lang="en-US" dirty="0"/>
          </a:p>
        </p:txBody>
      </p:sp>
      <p:pic>
        <p:nvPicPr>
          <p:cNvPr id="5" name="Picture 4">
            <a:extLst>
              <a:ext uri="{FF2B5EF4-FFF2-40B4-BE49-F238E27FC236}">
                <a16:creationId xmlns:a16="http://schemas.microsoft.com/office/drawing/2014/main" id="{0843360F-882F-053E-968C-46EEFCF54F69}"/>
              </a:ext>
            </a:extLst>
          </p:cNvPr>
          <p:cNvPicPr>
            <a:picLocks noChangeAspect="1"/>
          </p:cNvPicPr>
          <p:nvPr/>
        </p:nvPicPr>
        <p:blipFill>
          <a:blip r:embed="rId4"/>
          <a:stretch>
            <a:fillRect/>
          </a:stretch>
        </p:blipFill>
        <p:spPr>
          <a:xfrm>
            <a:off x="1479550" y="4476750"/>
            <a:ext cx="3098800" cy="990600"/>
          </a:xfrm>
          <a:prstGeom prst="rect">
            <a:avLst/>
          </a:prstGeom>
        </p:spPr>
      </p:pic>
      <p:pic>
        <p:nvPicPr>
          <p:cNvPr id="7" name="Picture 6">
            <a:extLst>
              <a:ext uri="{FF2B5EF4-FFF2-40B4-BE49-F238E27FC236}">
                <a16:creationId xmlns:a16="http://schemas.microsoft.com/office/drawing/2014/main" id="{28323F52-0707-B4A6-6391-194801F3FD85}"/>
              </a:ext>
            </a:extLst>
          </p:cNvPr>
          <p:cNvPicPr>
            <a:picLocks noChangeAspect="1"/>
          </p:cNvPicPr>
          <p:nvPr/>
        </p:nvPicPr>
        <p:blipFill>
          <a:blip r:embed="rId5"/>
          <a:stretch>
            <a:fillRect/>
          </a:stretch>
        </p:blipFill>
        <p:spPr>
          <a:xfrm>
            <a:off x="5576582" y="4476749"/>
            <a:ext cx="2252968" cy="1051385"/>
          </a:xfrm>
          <a:prstGeom prst="rect">
            <a:avLst/>
          </a:prstGeom>
        </p:spPr>
      </p:pic>
      <p:pic>
        <p:nvPicPr>
          <p:cNvPr id="18" name="Audio 17">
            <a:extLst>
              <a:ext uri="{FF2B5EF4-FFF2-40B4-BE49-F238E27FC236}">
                <a16:creationId xmlns:a16="http://schemas.microsoft.com/office/drawing/2014/main" id="{E8D7757A-01C5-C809-1D6F-24D42A01FD93}"/>
              </a:ext>
            </a:extLst>
          </p:cNvPr>
          <p:cNvPicPr>
            <a:picLocks noChangeAspect="1"/>
          </p:cNvPicPr>
          <p:nvPr>
            <a:audioFile r:link="rId2"/>
            <p:extLst>
              <p:ext uri="{DAA4B4D4-6D71-4841-9C94-3DE7FCFB9230}">
                <p14:media xmlns:p14="http://schemas.microsoft.com/office/powerpoint/2010/main" r:embed="rId1"/>
              </p:ext>
            </p:extLst>
          </p:nvPr>
        </p:nvPicPr>
        <p:blipFill>
          <a:blip r:embed="rId6"/>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42369399"/>
      </p:ext>
    </p:extLst>
  </p:cSld>
  <p:clrMapOvr>
    <a:masterClrMapping/>
  </p:clrMapOvr>
  <mc:AlternateContent xmlns:mc="http://schemas.openxmlformats.org/markup-compatibility/2006">
    <mc:Choice xmlns:p14="http://schemas.microsoft.com/office/powerpoint/2010/main" Requires="p14">
      <p:transition spd="slow" p14:dur="2000" advTm="49100"/>
    </mc:Choice>
    <mc:Fallback>
      <p:transition spd="slow" advTm="491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8"/>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8"/>
                </p:tgtEl>
              </p:cMediaNode>
            </p:audi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28362-CB8D-7312-ED8D-3EA98DA384CB}"/>
              </a:ext>
            </a:extLst>
          </p:cNvPr>
          <p:cNvSpPr>
            <a:spLocks noGrp="1"/>
          </p:cNvSpPr>
          <p:nvPr>
            <p:ph type="title"/>
          </p:nvPr>
        </p:nvSpPr>
        <p:spPr/>
        <p:txBody>
          <a:bodyPr/>
          <a:lstStyle/>
          <a:p>
            <a:r>
              <a:rPr lang="en-US" dirty="0"/>
              <a:t>Key Notes </a:t>
            </a:r>
            <a:r>
              <a:rPr lang="en-US" dirty="0" err="1"/>
              <a:t>Con’t</a:t>
            </a:r>
            <a:r>
              <a:rPr lang="en-US" dirty="0"/>
              <a:t>:</a:t>
            </a:r>
          </a:p>
        </p:txBody>
      </p:sp>
      <p:sp>
        <p:nvSpPr>
          <p:cNvPr id="3" name="Content Placeholder 2">
            <a:extLst>
              <a:ext uri="{FF2B5EF4-FFF2-40B4-BE49-F238E27FC236}">
                <a16:creationId xmlns:a16="http://schemas.microsoft.com/office/drawing/2014/main" id="{31040B58-A7CC-51DC-105A-80CB8D71047C}"/>
              </a:ext>
            </a:extLst>
          </p:cNvPr>
          <p:cNvSpPr>
            <a:spLocks noGrp="1"/>
          </p:cNvSpPr>
          <p:nvPr>
            <p:ph idx="1"/>
          </p:nvPr>
        </p:nvSpPr>
        <p:spPr/>
        <p:txBody>
          <a:bodyPr/>
          <a:lstStyle/>
          <a:p>
            <a:r>
              <a:rPr lang="en-US" dirty="0"/>
              <a:t>Interfaces can extend other interfaces (but not classes)</a:t>
            </a:r>
          </a:p>
          <a:p>
            <a:r>
              <a:rPr lang="en-US" dirty="0"/>
              <a:t>They can also be used as reference variables</a:t>
            </a:r>
          </a:p>
          <a:p>
            <a:r>
              <a:rPr lang="en-US" dirty="0"/>
              <a:t>They can “loophole” multiple inheritance</a:t>
            </a:r>
          </a:p>
          <a:p>
            <a:endParaRPr lang="en-US" dirty="0"/>
          </a:p>
        </p:txBody>
      </p:sp>
      <p:pic>
        <p:nvPicPr>
          <p:cNvPr id="7" name="Audio 6">
            <a:extLst>
              <a:ext uri="{FF2B5EF4-FFF2-40B4-BE49-F238E27FC236}">
                <a16:creationId xmlns:a16="http://schemas.microsoft.com/office/drawing/2014/main" id="{4C68A41C-9869-173E-2C0F-B10C4D304CBD}"/>
              </a:ext>
            </a:extLst>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226800" y="5892800"/>
            <a:ext cx="812800" cy="812800"/>
          </a:xfrm>
          <a:prstGeom prst="rect">
            <a:avLst/>
          </a:prstGeom>
        </p:spPr>
      </p:pic>
    </p:spTree>
    <p:extLst>
      <p:ext uri="{BB962C8B-B14F-4D97-AF65-F5344CB8AC3E}">
        <p14:creationId xmlns:p14="http://schemas.microsoft.com/office/powerpoint/2010/main" val="3845910793"/>
      </p:ext>
    </p:extLst>
  </p:cSld>
  <p:clrMapOvr>
    <a:masterClrMapping/>
  </p:clrMapOvr>
  <mc:AlternateContent xmlns:mc="http://schemas.openxmlformats.org/markup-compatibility/2006">
    <mc:Choice xmlns:p14="http://schemas.microsoft.com/office/powerpoint/2010/main" Requires="p14">
      <p:transition spd="slow" p14:dur="2000" advTm="17571"/>
    </mc:Choice>
    <mc:Fallback>
      <p:transition spd="slow" advTm="17571"/>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Grayscale">
      <a:dk1>
        <a:sysClr val="windowText" lastClr="000000"/>
      </a:dk1>
      <a:lt1>
        <a:sysClr val="window" lastClr="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Template>
  <TotalTime>1417</TotalTime>
  <Words>805</Words>
  <Application>Microsoft Macintosh PowerPoint</Application>
  <PresentationFormat>Widescreen</PresentationFormat>
  <Paragraphs>57</Paragraphs>
  <Slides>10</Slides>
  <Notes>7</Notes>
  <HiddenSlides>0</HiddenSlides>
  <MMClips>10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Andale Mono</vt:lpstr>
      <vt:lpstr>Aptos</vt:lpstr>
      <vt:lpstr>Century Gothic</vt:lpstr>
      <vt:lpstr>Wingdings 3</vt:lpstr>
      <vt:lpstr>Ion</vt:lpstr>
      <vt:lpstr>Interfaces</vt:lpstr>
      <vt:lpstr>Interfaces are…</vt:lpstr>
      <vt:lpstr>Hold on, what’s an abstract method?!</vt:lpstr>
      <vt:lpstr>Why interfaces??</vt:lpstr>
      <vt:lpstr>How to use an interface</vt:lpstr>
      <vt:lpstr>Loopholing Multiple Inheritance</vt:lpstr>
      <vt:lpstr>First, create a class and multiple interfaces:</vt:lpstr>
      <vt:lpstr>Then create the subclass, extend the super class and implement the interfaces</vt:lpstr>
      <vt:lpstr>Key Notes about Interfaces:</vt:lpstr>
      <vt:lpstr>Key Notes Con’t: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Deejer S</dc:creator>
  <cp:lastModifiedBy>Deejer S</cp:lastModifiedBy>
  <cp:revision>2</cp:revision>
  <dcterms:created xsi:type="dcterms:W3CDTF">2026-04-21T20:30:40Z</dcterms:created>
  <dcterms:modified xsi:type="dcterms:W3CDTF">2026-04-22T20:07:52Z</dcterms:modified>
</cp:coreProperties>
</file>